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354" r:id="rId3"/>
    <p:sldId id="353" r:id="rId5"/>
    <p:sldId id="355" r:id="rId6"/>
    <p:sldId id="358" r:id="rId7"/>
    <p:sldId id="360" r:id="rId8"/>
    <p:sldId id="359" r:id="rId9"/>
    <p:sldId id="361" r:id="rId10"/>
    <p:sldId id="362" r:id="rId11"/>
    <p:sldId id="363" r:id="rId12"/>
    <p:sldId id="366" r:id="rId13"/>
    <p:sldId id="364" r:id="rId14"/>
    <p:sldId id="365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正文" id="{74A88C6D-78C6-4E80-930D-4DCDE2FA78E2}">
          <p14:sldIdLst>
            <p14:sldId id="354"/>
            <p14:sldId id="353"/>
            <p14:sldId id="355"/>
            <p14:sldId id="358"/>
            <p14:sldId id="360"/>
            <p14:sldId id="359"/>
            <p14:sldId id="361"/>
            <p14:sldId id="362"/>
            <p14:sldId id="363"/>
            <p14:sldId id="366"/>
            <p14:sldId id="364"/>
            <p14:sldId id="365"/>
          </p14:sldIdLst>
        </p14:section>
      </p14:sectionLst>
    </p:ext>
    <p:ext uri="{EFAFB233-063F-42B5-8137-9DF3F51BA10A}">
      <p15:sldGuideLst xmlns:p15="http://schemas.microsoft.com/office/powerpoint/2012/main">
        <p15:guide id="4" pos="7317" userDrawn="1">
          <p15:clr>
            <a:srgbClr val="A4A3A4"/>
          </p15:clr>
        </p15:guide>
        <p15:guide id="5" orient="horz" pos="240" userDrawn="1">
          <p15:clr>
            <a:srgbClr val="A4A3A4"/>
          </p15:clr>
        </p15:guide>
        <p15:guide id="6" orient="horz" pos="4004" userDrawn="1">
          <p15:clr>
            <a:srgbClr val="A4A3A4"/>
          </p15:clr>
        </p15:guide>
        <p15:guide id="7" pos="3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A9D5"/>
    <a:srgbClr val="72BBDB"/>
    <a:srgbClr val="004181"/>
    <a:srgbClr val="A6A6A6"/>
    <a:srgbClr val="1D1B1C"/>
    <a:srgbClr val="AF2125"/>
    <a:srgbClr val="DF5356"/>
    <a:srgbClr val="FFFFFF"/>
    <a:srgbClr val="7492B8"/>
    <a:srgbClr val="456D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9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80" y="328"/>
      </p:cViewPr>
      <p:guideLst>
        <p:guide pos="7317"/>
        <p:guide orient="horz" pos="240"/>
        <p:guide orient="horz" pos="4004"/>
        <p:guide pos="37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5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98B9C-87B0-4F8A-8876-781DF9777B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080179" y="997618"/>
            <a:ext cx="4436181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932613" y="1124653"/>
            <a:ext cx="4421187" cy="2943346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2290573"/>
            <a:ext cx="12192000" cy="3094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 rot="20772240">
            <a:off x="7401365" y="1683034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9"/>
          <p:cNvSpPr>
            <a:spLocks noGrp="1"/>
          </p:cNvSpPr>
          <p:nvPr>
            <p:ph type="pic" sz="quarter" idx="15"/>
          </p:nvPr>
        </p:nvSpPr>
        <p:spPr>
          <a:xfrm rot="668217">
            <a:off x="7665854" y="3726070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85565" y="1398880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493965" y="1410888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9"/>
          <p:cNvSpPr>
            <a:spLocks noGrp="1"/>
          </p:cNvSpPr>
          <p:nvPr>
            <p:ph type="pic" sz="quarter" idx="16"/>
          </p:nvPr>
        </p:nvSpPr>
        <p:spPr>
          <a:xfrm>
            <a:off x="8239589" y="1386104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项横向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624221" y="148619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624220" y="358132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148169" y="148254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148168" y="357767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 userDrawn="1"/>
        </p:nvSpPr>
        <p:spPr>
          <a:xfrm flipH="1" flipV="1">
            <a:off x="5425531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 flipV="1">
            <a:off x="10962103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 userDrawn="1"/>
        </p:nvSpPr>
        <p:spPr>
          <a:xfrm flipH="1" flipV="1">
            <a:off x="5425531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 userDrawn="1"/>
        </p:nvSpPr>
        <p:spPr>
          <a:xfrm flipH="1" flipV="1">
            <a:off x="10962103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50888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62300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6278410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6289822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421373" y="284403"/>
            <a:ext cx="1154483" cy="67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XDU</a:t>
            </a:r>
            <a:endParaRPr lang="zh-CN" altLang="en-US" sz="32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截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2438400"/>
            <a:ext cx="12192000" cy="2651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640" y="1227371"/>
            <a:ext cx="6553200" cy="518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5"/>
          </p:nvPr>
        </p:nvSpPr>
        <p:spPr>
          <a:xfrm>
            <a:off x="4094003" y="146110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6"/>
          </p:nvPr>
        </p:nvSpPr>
        <p:spPr>
          <a:xfrm>
            <a:off x="1360455" y="147126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7"/>
          </p:nvPr>
        </p:nvSpPr>
        <p:spPr>
          <a:xfrm>
            <a:off x="-1403065" y="1466132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65422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5"/>
          </p:nvPr>
        </p:nvSpPr>
        <p:spPr>
          <a:xfrm>
            <a:off x="2591276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6"/>
          </p:nvPr>
        </p:nvSpPr>
        <p:spPr>
          <a:xfrm>
            <a:off x="565422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7"/>
          </p:nvPr>
        </p:nvSpPr>
        <p:spPr>
          <a:xfrm>
            <a:off x="2591276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8"/>
          </p:nvPr>
        </p:nvSpPr>
        <p:spPr>
          <a:xfrm>
            <a:off x="565422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591276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  <a:endParaRPr lang="zh-CN" altLang="en-US" dirty="0"/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480" y="1171575"/>
            <a:ext cx="6255849" cy="4558665"/>
          </a:xfrm>
          <a:prstGeom prst="rect">
            <a:avLst/>
          </a:prstGeom>
        </p:spPr>
      </p:pic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335088" y="1554163"/>
            <a:ext cx="4297362" cy="285115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 userDrawn="1"/>
        </p:nvSpPr>
        <p:spPr>
          <a:xfrm>
            <a:off x="587375" y="6030223"/>
            <a:ext cx="1444197" cy="38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▶▶▶</a:t>
            </a:r>
            <a:endParaRPr lang="zh-CN" altLang="en-US" sz="1600" spc="100" dirty="0">
              <a:solidFill>
                <a:schemeClr val="accent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7421356" y="-2690075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7634978" y="-2781431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640991" y="381570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25674" y="493521"/>
            <a:ext cx="4627265" cy="58709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0446219" y="284403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231" y="606743"/>
            <a:ext cx="4816257" cy="5864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95301"/>
            <a:ext cx="8364310" cy="51696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60500" y="6362699"/>
            <a:ext cx="2743200" cy="365125"/>
          </a:xfrm>
        </p:spPr>
        <p:txBody>
          <a:bodyPr/>
          <a:lstStyle/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864102" y="6362699"/>
            <a:ext cx="3124200" cy="365124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48704" y="6362698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828800" y="1084462"/>
            <a:ext cx="5956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0" y="11151"/>
            <a:ext cx="1244600" cy="172243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0" y="1721005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0" y="3443443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0" y="5165881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EE87-E84D-4794-AAE5-5EBFA06D57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163-3264-45B9-8805-38B3DB57B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548A5D5-F967-4973-BC3E-B6E1F1E7940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055370" y="2032635"/>
            <a:ext cx="10081895" cy="139636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no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HOG-Layout: Hierarchical 3D Scene Generation, Optimization 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and Editing via Vision-Language Models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78015" y="4329883"/>
            <a:ext cx="2359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nl-NL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-1"/>
            <a:ext cx="12192000" cy="31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0" y="6545484"/>
            <a:ext cx="12192000" cy="312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 rot="16200000">
            <a:off x="-629641" y="2414059"/>
            <a:ext cx="1846660" cy="587375"/>
            <a:chOff x="136270" y="441325"/>
            <a:chExt cx="2690232" cy="1572670"/>
          </a:xfrm>
        </p:grpSpPr>
        <p:sp>
          <p:nvSpPr>
            <p:cNvPr id="60" name="矩形 59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 rot="16200000">
            <a:off x="10974983" y="2414059"/>
            <a:ext cx="1846660" cy="587375"/>
            <a:chOff x="136270" y="441325"/>
            <a:chExt cx="2690232" cy="1572670"/>
          </a:xfrm>
        </p:grpSpPr>
        <p:sp>
          <p:nvSpPr>
            <p:cNvPr id="66" name="矩形 65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5401313" y="3429000"/>
            <a:ext cx="13893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CVPR 2026</a:t>
            </a:r>
            <a:endParaRPr lang="en-US" altLang="zh-CN" dirty="0">
              <a:solidFill>
                <a:srgbClr val="00418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0685" y="3965575"/>
            <a:ext cx="3768725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30000"/>
              </a:lnSpc>
            </a:pPr>
            <a:r>
              <a:rPr lang="zh-CN" altLang="en-US" sz="1600" spc="1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香港理工大学、北京理工大学</a:t>
            </a:r>
            <a:endParaRPr lang="zh-CN" altLang="en-US" sz="1600" spc="1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2460" y="4754880"/>
            <a:ext cx="8387715" cy="699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13740" y="381635"/>
            <a:ext cx="10515600" cy="654050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HOG-Layout: Hierarchical 3D Scene Generation, Optimization </a:t>
            </a:r>
            <a:br>
              <a:rPr lang="en-US" altLang="zh-CN" b="1" dirty="0" err="1">
                <a:sym typeface="Arial" panose="020B0604020202020204" pitchFamily="34" charset="0"/>
              </a:rPr>
            </a:br>
            <a:r>
              <a:rPr lang="en-US" altLang="zh-CN" dirty="0" err="1">
                <a:sym typeface="Arial" panose="020B0604020202020204" pitchFamily="34" charset="0"/>
              </a:rPr>
              <a:t>and Editing via Vision-Language Models</a:t>
            </a:r>
            <a:endParaRPr lang="en-US" altLang="zh-CN" dirty="0" err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976630" y="5217160"/>
            <a:ext cx="9904730" cy="737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400" b="1" i="0" dirty="0" err="1">
                <a:solidFill>
                  <a:srgbClr val="FF0000"/>
                </a:solidFill>
                <a:latin typeface="+mn-ea"/>
                <a:cs typeface="+mn-ea"/>
              </a:rPr>
              <a:t>出发点：</a:t>
            </a:r>
            <a:endParaRPr lang="zh-CN" altLang="en-US" sz="1400" b="1" i="0" dirty="0" err="1">
              <a:solidFill>
                <a:srgbClr val="FF0000"/>
              </a:solidFill>
              <a:latin typeface="+mn-ea"/>
              <a:cs typeface="+mn-ea"/>
            </a:endParaRPr>
          </a:p>
          <a:p>
            <a:pPr marL="0" indent="0" algn="l"/>
            <a:r>
              <a:rPr lang="zh-CN" altLang="en-US" sz="1400" b="0" i="0" dirty="0" err="1">
                <a:latin typeface="+mn-ea"/>
                <a:cs typeface="+mn-ea"/>
              </a:rPr>
              <a:t>1)  现有方案都存在核心缺陷：纯 </a:t>
            </a:r>
            <a:r>
              <a:rPr lang="en-US" altLang="zh-CN" sz="1400" b="0" i="0" dirty="0" err="1">
                <a:latin typeface="+mn-ea"/>
                <a:cs typeface="+mn-ea"/>
              </a:rPr>
              <a:t>LLM </a:t>
            </a:r>
            <a:r>
              <a:rPr lang="zh-CN" altLang="en-US" sz="1400" b="0" i="0" dirty="0" err="1">
                <a:latin typeface="+mn-ea"/>
                <a:cs typeface="+mn-ea"/>
              </a:rPr>
              <a:t>生成方案物理合理性完全不可控；硬约束增强方案牺牲多样性换合理性，效率极低；之前的</a:t>
            </a:r>
            <a:r>
              <a:rPr lang="en-US" altLang="zh-CN" sz="1400" b="0" i="0" dirty="0" err="1">
                <a:latin typeface="+mn-ea"/>
                <a:cs typeface="+mn-ea"/>
              </a:rPr>
              <a:t>VLM </a:t>
            </a:r>
            <a:r>
              <a:rPr lang="zh-CN" altLang="en-US" sz="1400" b="0" i="0" dirty="0" err="1">
                <a:latin typeface="+mn-ea"/>
                <a:cs typeface="+mn-ea"/>
              </a:rPr>
              <a:t>生成方案普遍缺少编辑能力。</a:t>
            </a:r>
            <a:endParaRPr lang="zh-CN" altLang="en-US" sz="1400" b="0" i="0" dirty="0" err="1">
              <a:latin typeface="+mn-ea"/>
              <a:cs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6630" y="5897245"/>
            <a:ext cx="1025271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buClrTx/>
              <a:buSzTx/>
              <a:buFontTx/>
            </a:pPr>
            <a:r>
              <a:rPr lang="zh-CN" altLang="en-US" sz="1400" b="0" i="0" dirty="0" err="1">
                <a:latin typeface="+mn-ea"/>
                <a:cs typeface="+mn-ea"/>
              </a:rPr>
              <a:t>2) 本文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提出一种基于层次结构的分层多步场景生成、优化与编辑方法，将物体按支撑关系分层并</a:t>
            </a:r>
            <a:r>
              <a:rPr lang="zh-CN" altLang="en-US" sz="1400" b="0" i="0" dirty="0" err="1">
                <a:latin typeface="+mn-ea"/>
                <a:cs typeface="+mn-ea"/>
              </a:rPr>
              <a:t>引入一个分层力导向优化模块，根据父子层级进行迭代优化，不同层级之间同时开展优化，从而实现快速且精准的优化。</a:t>
            </a:r>
            <a:endParaRPr lang="zh-CN" altLang="en-US" sz="1400" b="0" i="0" dirty="0" err="1">
              <a:latin typeface="+mn-ea"/>
              <a:cs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t="3142"/>
          <a:stretch>
            <a:fillRect/>
          </a:stretch>
        </p:blipFill>
        <p:spPr>
          <a:xfrm>
            <a:off x="1580515" y="1035685"/>
            <a:ext cx="8557260" cy="4248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13740" y="381635"/>
            <a:ext cx="10515600" cy="654050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HOG-Layout: Hierarchical 3D Scene Generation, Optimization </a:t>
            </a:r>
            <a:br>
              <a:rPr lang="en-US" altLang="zh-CN" b="1" dirty="0" err="1">
                <a:sym typeface="Arial" panose="020B0604020202020204" pitchFamily="34" charset="0"/>
              </a:rPr>
            </a:br>
            <a:r>
              <a:rPr lang="en-US" altLang="zh-CN" dirty="0" err="1">
                <a:sym typeface="Arial" panose="020B0604020202020204" pitchFamily="34" charset="0"/>
              </a:rPr>
              <a:t>and Editing via Vision-Language Models</a:t>
            </a:r>
            <a:endParaRPr lang="en-US" altLang="zh-CN" dirty="0" err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35685"/>
            <a:ext cx="8879840" cy="46850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879840" y="1086485"/>
            <a:ext cx="3291205" cy="913130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buClrTx/>
              <a:buSzTx/>
              <a:buFontTx/>
            </a:pPr>
            <a:r>
              <a:rPr lang="en-US" altLang="zh-CN" sz="1400" b="0" i="0" dirty="0" err="1">
                <a:latin typeface="+mn-ea"/>
                <a:cs typeface="+mn-ea"/>
              </a:rPr>
              <a:t>(</a:t>
            </a:r>
            <a:r>
              <a:rPr lang="zh-CN" altLang="en-US" sz="1400" b="0" i="0" dirty="0" err="1">
                <a:latin typeface="+mn-ea"/>
                <a:cs typeface="+mn-ea"/>
              </a:rPr>
              <a:t>1</a:t>
            </a:r>
            <a:r>
              <a:rPr lang="en-US" altLang="zh-CN" sz="1400" b="0" i="0" dirty="0" err="1">
                <a:latin typeface="+mn-ea"/>
                <a:cs typeface="+mn-ea"/>
              </a:rPr>
              <a:t>)</a:t>
            </a:r>
            <a:r>
              <a:rPr lang="zh-CN" altLang="en-US" sz="1400" b="1" i="0" dirty="0" err="1">
                <a:latin typeface="+mn-ea"/>
                <a:cs typeface="+mn-ea"/>
              </a:rPr>
              <a:t>场景规划</a:t>
            </a:r>
            <a:r>
              <a:rPr lang="zh-CN" altLang="en-US" sz="1400" b="1" dirty="0" err="1">
                <a:latin typeface="+mn-ea"/>
                <a:cs typeface="+mn-ea"/>
                <a:sym typeface="+mn-ea"/>
              </a:rPr>
              <a:t>：</a:t>
            </a:r>
            <a:r>
              <a:rPr lang="zh-CN" altLang="en-US" sz="1400" b="0" i="0" dirty="0" err="1">
                <a:latin typeface="+mn-ea"/>
                <a:cs typeface="+mn-ea"/>
              </a:rPr>
              <a:t>搭载检索增强生成（RAG）的</a:t>
            </a:r>
            <a:r>
              <a:rPr lang="en-US" altLang="zh-CN" sz="1400" b="0" i="0" dirty="0" err="1">
                <a:latin typeface="+mn-ea"/>
                <a:cs typeface="+mn-ea"/>
              </a:rPr>
              <a:t>LLM</a:t>
            </a:r>
            <a:r>
              <a:rPr lang="zh-CN" altLang="en-US" sz="1400" b="0" i="0" dirty="0" err="1">
                <a:latin typeface="+mn-ea"/>
                <a:cs typeface="+mn-ea"/>
              </a:rPr>
              <a:t>在此环节生成包含物体列表、房间信息以及整体场景的结构化规划描述并划分功能分组。</a:t>
            </a:r>
            <a:endParaRPr lang="zh-CN" altLang="en-US" sz="1400" b="0" i="0" dirty="0" err="1">
              <a:latin typeface="+mn-ea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79840" y="2051050"/>
            <a:ext cx="3311525" cy="1209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hangingPunct="0">
              <a:lnSpc>
                <a:spcPct val="130000"/>
              </a:lnSpc>
            </a:pPr>
            <a:r>
              <a:rPr lang="en-US" altLang="zh-CN" sz="1400" dirty="0" err="1">
                <a:latin typeface="+mn-ea"/>
                <a:cs typeface="+mn-ea"/>
                <a:sym typeface="+mn-ea"/>
              </a:rPr>
              <a:t>(2)</a:t>
            </a:r>
            <a:r>
              <a:rPr lang="zh-CN" altLang="en-US" sz="1400" b="1" dirty="0" err="1">
                <a:latin typeface="+mn-ea"/>
                <a:cs typeface="+mn-ea"/>
                <a:sym typeface="+mn-ea"/>
              </a:rPr>
              <a:t>布局生成：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视觉语言模型（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VLM）结合场景规划与标注了视觉标记的俯视视角，分组迭代生成布局并实例化对象，从而生成初始场景。</a:t>
            </a:r>
            <a:endParaRPr lang="zh-CN" altLang="en-US" sz="1400" spc="100" dirty="0" err="1">
              <a:solidFill>
                <a:schemeClr val="accent4">
                  <a:lumMod val="20000"/>
                  <a:lumOff val="80000"/>
                </a:schemeClr>
              </a:solidFill>
              <a:latin typeface="+mn-ea"/>
              <a:ea typeface="思源黑体 CN Normal" panose="020B0400000000000000" pitchFamily="3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79840" y="3270885"/>
            <a:ext cx="331216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Tx/>
            </a:pPr>
            <a:r>
              <a:rPr lang="en-US" altLang="zh-CN" sz="1400" dirty="0" err="1">
                <a:latin typeface="+mn-ea"/>
                <a:cs typeface="+mn-ea"/>
                <a:sym typeface="+mn-ea"/>
              </a:rPr>
              <a:t>(3)</a:t>
            </a:r>
            <a:r>
              <a:rPr lang="zh-CN" altLang="en-US" sz="1400" b="1" dirty="0" err="1">
                <a:latin typeface="+mn-ea"/>
                <a:cs typeface="+mn-ea"/>
                <a:sym typeface="+mn-ea"/>
              </a:rPr>
              <a:t>分层优化：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采用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基于约束的分层力导向布局优化器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迭代优化物体的位置和朝向，先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将所有复杂的场景布局规则包括物理可行性（如碰撞、边界）和语义逻辑（如邻近性、靠墙摆放）统一抽象并转化为模拟的连续物理力，再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把力拆解为水平、垂直、旋转三个独立方向，优化时只计算同层物体之间和父子层物体之间的作用力，不需要所有物体两两计算，效率直接提升，也更符合真实物理逻辑。</a:t>
            </a:r>
            <a:endParaRPr lang="zh-CN" altLang="en-US" sz="1400" spc="100" dirty="0" err="1">
              <a:solidFill>
                <a:schemeClr val="accent4">
                  <a:lumMod val="20000"/>
                  <a:lumOff val="80000"/>
                </a:schemeClr>
              </a:solidFill>
              <a:latin typeface="+mn-ea"/>
              <a:ea typeface="思源黑体 CN Normal" panose="020B0400000000000000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13740" y="381635"/>
            <a:ext cx="10515600" cy="654050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HOG-Layout: Hierarchical 3D Scene Generation, Optimization </a:t>
            </a:r>
            <a:br>
              <a:rPr lang="en-US" altLang="zh-CN" b="1" dirty="0" err="1">
                <a:sym typeface="Arial" panose="020B0604020202020204" pitchFamily="34" charset="0"/>
              </a:rPr>
            </a:br>
            <a:r>
              <a:rPr lang="en-US" altLang="zh-CN" dirty="0" err="1">
                <a:sym typeface="Arial" panose="020B0604020202020204" pitchFamily="34" charset="0"/>
              </a:rPr>
              <a:t>and Editing via Vision-Language Models</a:t>
            </a:r>
            <a:endParaRPr lang="en-US" altLang="zh-CN" dirty="0" err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1123950" y="5706745"/>
            <a:ext cx="10897235" cy="868680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buClrTx/>
              <a:buSzTx/>
              <a:buFontTx/>
            </a:pPr>
            <a:r>
              <a:rPr lang="zh-CN" altLang="en-US" sz="1400" b="0" i="0" dirty="0" err="1">
                <a:latin typeface="+mn-ea"/>
                <a:cs typeface="+mn-ea"/>
              </a:rPr>
              <a:t>(4) 场景编辑：支持基于文本的精准实时修改，可以实现添加、删除和移动三种修改方式。</a:t>
            </a:r>
            <a:endParaRPr lang="en-US" altLang="zh-CN" sz="1400" b="0" i="0" dirty="0" err="1">
              <a:latin typeface="+mn-ea"/>
              <a:cs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840" y="1100455"/>
            <a:ext cx="8390255" cy="4542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13740" y="381635"/>
            <a:ext cx="10515600" cy="654050"/>
          </a:xfrm>
        </p:spPr>
        <p:txBody>
          <a:bodyPr>
            <a:normAutofit/>
          </a:bodyPr>
          <a:lstStyle/>
          <a:p>
            <a:endParaRPr lang="en-US" altLang="zh-CN" dirty="0" err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475980" y="1186180"/>
            <a:ext cx="3012440" cy="4606290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buClrTx/>
              <a:buSzTx/>
              <a:buNone/>
            </a:pPr>
            <a:r>
              <a:rPr lang="zh-CN" altLang="en-US" b="0" i="0" dirty="0" err="1">
                <a:latin typeface="+mn-ea"/>
                <a:cs typeface="+mn-ea"/>
              </a:rPr>
              <a:t>论文</a:t>
            </a:r>
            <a:r>
              <a:rPr lang="en-US" altLang="zh-CN" b="0" i="0" dirty="0" err="1">
                <a:latin typeface="+mn-ea"/>
                <a:cs typeface="+mn-ea"/>
              </a:rPr>
              <a:t>采用 SceneEval-100 数据集，该数据集包含100个室内场景的文本描述，涵盖10种不同的房间类型。这些描述根据其复杂程度被分为简单、中等和困难三个难度等级。</a:t>
            </a:r>
            <a:endParaRPr lang="en-US" altLang="zh-CN" b="0" i="0" dirty="0" err="1">
              <a:latin typeface="+mn-ea"/>
              <a:cs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" y="419100"/>
            <a:ext cx="8201025" cy="6019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2018" r="1921" b="-4134"/>
          <a:stretch>
            <a:fillRect/>
          </a:stretch>
        </p:blipFill>
        <p:spPr>
          <a:xfrm>
            <a:off x="148590" y="167640"/>
            <a:ext cx="8192135" cy="335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13740" y="381635"/>
            <a:ext cx="10515600" cy="654050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HOG-Layout: Hierarchical 3D Scene Generation, Optimization </a:t>
            </a:r>
            <a:br>
              <a:rPr lang="en-US" altLang="zh-CN" b="1" dirty="0" err="1">
                <a:sym typeface="Arial" panose="020B0604020202020204" pitchFamily="34" charset="0"/>
              </a:rPr>
            </a:br>
            <a:r>
              <a:rPr lang="en-US" altLang="zh-CN" dirty="0" err="1">
                <a:sym typeface="Arial" panose="020B0604020202020204" pitchFamily="34" charset="0"/>
              </a:rPr>
              <a:t>and Editing via Vision-Language Models</a:t>
            </a:r>
            <a:endParaRPr lang="en-US" altLang="zh-CN" dirty="0" err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058150" y="3108325"/>
            <a:ext cx="2964815" cy="3070225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buClrTx/>
              <a:buSzTx/>
              <a:buFontTx/>
            </a:pPr>
            <a:r>
              <a:rPr lang="zh-CN" altLang="en-US" sz="1600" b="1" i="0" dirty="0" err="1">
                <a:solidFill>
                  <a:srgbClr val="FF0000"/>
                </a:solidFill>
                <a:latin typeface="+mn-ea"/>
                <a:cs typeface="+mn-ea"/>
              </a:rPr>
              <a:t>评价指标</a:t>
            </a:r>
            <a:endParaRPr lang="zh-CN" altLang="en-US" sz="1600" b="1" i="0" dirty="0" err="1">
              <a:solidFill>
                <a:srgbClr val="FF0000"/>
              </a:solidFill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 dirty="0" err="1">
                <a:latin typeface="+mn-ea"/>
                <a:cs typeface="+mn-ea"/>
              </a:rPr>
              <a:t>保真度（</a:t>
            </a:r>
            <a:r>
              <a:rPr lang="en-US" altLang="zh-CN" sz="1600" b="1" i="0" dirty="0" err="1">
                <a:latin typeface="+mn-ea"/>
                <a:cs typeface="+mn-ea"/>
              </a:rPr>
              <a:t>Fidelity）：</a:t>
            </a:r>
            <a:endParaRPr lang="zh-CN" altLang="en-US" sz="1600" b="1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CNT：</a:t>
            </a:r>
            <a:r>
              <a:rPr lang="zh-CN" altLang="en-US" sz="1600" b="0" i="0" dirty="0" err="1">
                <a:latin typeface="+mn-ea"/>
                <a:cs typeface="+mn-ea"/>
              </a:rPr>
              <a:t>物体数量准确率</a:t>
            </a:r>
            <a:endParaRPr lang="zh-CN" altLang="en-US" sz="1600" b="0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ATR：</a:t>
            </a:r>
            <a:r>
              <a:rPr lang="zh-CN" altLang="en-US" sz="1600" b="0" i="0" dirty="0" err="1">
                <a:latin typeface="+mn-ea"/>
                <a:cs typeface="+mn-ea"/>
              </a:rPr>
              <a:t>物体属性准确率</a:t>
            </a:r>
            <a:endParaRPr lang="zh-CN" altLang="en-US" sz="1600" b="0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OOR：</a:t>
            </a:r>
            <a:r>
              <a:rPr lang="zh-CN" altLang="en-US" sz="1600" b="0" i="0" dirty="0" err="1">
                <a:latin typeface="+mn-ea"/>
                <a:cs typeface="+mn-ea"/>
              </a:rPr>
              <a:t>物体间关系准确率</a:t>
            </a:r>
            <a:endParaRPr lang="zh-CN" altLang="en-US" sz="1600" b="0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OAR：</a:t>
            </a:r>
            <a:r>
              <a:rPr lang="zh-CN" altLang="en-US" sz="1600" b="0" i="0" dirty="0" err="1">
                <a:latin typeface="+mn-ea"/>
                <a:cs typeface="+mn-ea"/>
              </a:rPr>
              <a:t>物体与建筑关系准确率</a:t>
            </a:r>
            <a:endParaRPr lang="zh-CN" altLang="en-US" sz="1600" b="0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zh-CN" altLang="en-US" sz="1600" b="1" i="0" dirty="0" err="1">
                <a:latin typeface="+mn-ea"/>
                <a:cs typeface="+mn-ea"/>
              </a:rPr>
              <a:t>合理性（</a:t>
            </a:r>
            <a:r>
              <a:rPr lang="en-US" altLang="zh-CN" sz="1600" b="1" i="0" dirty="0" err="1">
                <a:latin typeface="+mn-ea"/>
                <a:cs typeface="+mn-ea"/>
              </a:rPr>
              <a:t>Plausibility）：</a:t>
            </a:r>
            <a:endParaRPr lang="zh-CN" altLang="en-US" sz="1600" b="1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COL：</a:t>
            </a:r>
            <a:r>
              <a:rPr lang="zh-CN" altLang="en-US" sz="1600" b="0" i="0" dirty="0" err="1">
                <a:latin typeface="+mn-ea"/>
                <a:cs typeface="+mn-ea"/>
              </a:rPr>
              <a:t>物体碰撞率（越低越好）</a:t>
            </a:r>
            <a:endParaRPr lang="zh-CN" altLang="en-US" sz="1600" b="0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SUP：</a:t>
            </a:r>
            <a:r>
              <a:rPr lang="zh-CN" altLang="en-US" sz="1600" b="0" i="0" dirty="0" err="1">
                <a:latin typeface="+mn-ea"/>
                <a:cs typeface="+mn-ea"/>
              </a:rPr>
              <a:t>支撑合理性</a:t>
            </a:r>
            <a:endParaRPr lang="zh-CN" altLang="en-US" sz="1600" b="0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NAV：</a:t>
            </a:r>
            <a:r>
              <a:rPr lang="zh-CN" altLang="en-US" sz="1600" b="0" i="0" dirty="0" err="1">
                <a:latin typeface="+mn-ea"/>
                <a:cs typeface="+mn-ea"/>
              </a:rPr>
              <a:t>场景可通行性</a:t>
            </a:r>
            <a:endParaRPr lang="zh-CN" altLang="en-US" sz="1600" b="0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ACC：</a:t>
            </a:r>
            <a:r>
              <a:rPr lang="zh-CN" altLang="en-US" sz="1600" b="0" i="0" dirty="0" err="1">
                <a:latin typeface="+mn-ea"/>
                <a:cs typeface="+mn-ea"/>
              </a:rPr>
              <a:t>物体可到达性</a:t>
            </a:r>
            <a:endParaRPr lang="zh-CN" altLang="en-US" sz="1600" b="0" i="0" dirty="0" err="1">
              <a:latin typeface="+mn-ea"/>
              <a:cs typeface="+mn-ea"/>
            </a:endParaRPr>
          </a:p>
          <a:p>
            <a:pPr marL="0" algn="l">
              <a:buClrTx/>
              <a:buSzTx/>
              <a:buFontTx/>
            </a:pPr>
            <a:r>
              <a:rPr lang="en-US" altLang="zh-CN" sz="1600" b="0" i="0" dirty="0" err="1">
                <a:latin typeface="+mn-ea"/>
                <a:cs typeface="+mn-ea"/>
              </a:rPr>
              <a:t>OOB：</a:t>
            </a:r>
            <a:r>
              <a:rPr lang="zh-CN" altLang="en-US" sz="1600" b="0" i="0" dirty="0" err="1">
                <a:latin typeface="+mn-ea"/>
                <a:cs typeface="+mn-ea"/>
              </a:rPr>
              <a:t>物体越界率（越低越好）</a:t>
            </a:r>
            <a:endParaRPr lang="zh-CN" altLang="en-US" sz="1600" b="0" i="0" dirty="0" err="1">
              <a:latin typeface="+mn-ea"/>
              <a:cs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5" y="1235710"/>
            <a:ext cx="11534140" cy="169481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37210" y="4987290"/>
            <a:ext cx="8642985" cy="28676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l">
              <a:buClrTx/>
              <a:buSzTx/>
              <a:buFontTx/>
              <a:buNone/>
            </a:pPr>
            <a:endParaRPr lang="en-US" altLang="zh-CN" sz="1600" dirty="0" err="1">
              <a:latin typeface="+mn-ea"/>
              <a:cs typeface="+mn-ea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" y="2930525"/>
            <a:ext cx="7237730" cy="21253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1285556" y="2274869"/>
            <a:ext cx="9620885" cy="52197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MM-ACT: Learn from Multimodal Parallel Generation to Act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78015" y="4329883"/>
            <a:ext cx="2359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NL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nl-NL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-1"/>
            <a:ext cx="12192000" cy="31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0" y="6545484"/>
            <a:ext cx="12192000" cy="3125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 rot="16200000">
            <a:off x="-629641" y="2414059"/>
            <a:ext cx="1846660" cy="587375"/>
            <a:chOff x="136270" y="441325"/>
            <a:chExt cx="2690232" cy="1572670"/>
          </a:xfrm>
        </p:grpSpPr>
        <p:sp>
          <p:nvSpPr>
            <p:cNvPr id="60" name="矩形 59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 rot="16200000">
            <a:off x="10974983" y="2414059"/>
            <a:ext cx="1846660" cy="587375"/>
            <a:chOff x="136270" y="441325"/>
            <a:chExt cx="2690232" cy="1572670"/>
          </a:xfrm>
        </p:grpSpPr>
        <p:sp>
          <p:nvSpPr>
            <p:cNvPr id="66" name="矩形 65"/>
            <p:cNvSpPr/>
            <p:nvPr/>
          </p:nvSpPr>
          <p:spPr>
            <a:xfrm>
              <a:off x="13627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731812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327355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922897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2465060" y="441325"/>
              <a:ext cx="361442" cy="15726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5401313" y="3429000"/>
            <a:ext cx="13893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/>
              <a:t>CVPR 2026</a:t>
            </a:r>
            <a:endParaRPr lang="en-US" altLang="zh-CN" dirty="0">
              <a:solidFill>
                <a:srgbClr val="00418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0685" y="3965575"/>
            <a:ext cx="3768725" cy="410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hangingPunct="0">
              <a:lnSpc>
                <a:spcPct val="130000"/>
              </a:lnSpc>
            </a:pPr>
            <a:r>
              <a:rPr lang="zh-CN" altLang="en-US" sz="1600" spc="1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上海人工智能实验室</a:t>
            </a:r>
            <a:endParaRPr lang="zh-CN" altLang="en-US" sz="1600" spc="1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5040" y="4817110"/>
            <a:ext cx="7741920" cy="7861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35270" y="6123305"/>
            <a:ext cx="2172335" cy="422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 hangingPunct="0">
              <a:lnSpc>
                <a:spcPct val="130000"/>
              </a:lnSpc>
            </a:pPr>
            <a:r>
              <a:rPr lang="zh-CN" altLang="en-US" sz="1600" dirty="0">
                <a:sym typeface="+mn-ea"/>
              </a:rPr>
              <a:t>汇报人：张铭哲</a:t>
            </a: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50888" y="5556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MM-ACT: Learn from Multimodal Parallel Generation to Act</a:t>
            </a:r>
            <a:endParaRPr lang="en-US" altLang="zh-CN" dirty="0" err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3331" b="29158"/>
          <a:stretch>
            <a:fillRect/>
          </a:stretch>
        </p:blipFill>
        <p:spPr>
          <a:xfrm>
            <a:off x="1022350" y="1148715"/>
            <a:ext cx="10034270" cy="34874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22350" y="4749800"/>
            <a:ext cx="10331450" cy="13836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400" b="1" i="0" dirty="0" err="1">
                <a:solidFill>
                  <a:srgbClr val="FF0000"/>
                </a:solidFill>
                <a:latin typeface="+mn-ea"/>
                <a:cs typeface="+mn-ea"/>
              </a:rPr>
              <a:t>出发点：</a:t>
            </a:r>
            <a:endParaRPr lang="zh-CN" altLang="en-US" sz="1400" b="1" i="0" dirty="0" err="1">
              <a:solidFill>
                <a:srgbClr val="FF0000"/>
              </a:solidFill>
              <a:latin typeface="+mn-ea"/>
              <a:cs typeface="+mn-ea"/>
            </a:endParaRPr>
          </a:p>
          <a:p>
            <a:pPr marL="0" indent="0" algn="l"/>
            <a:r>
              <a:rPr lang="zh-CN" altLang="en-US" sz="1400" b="0" i="0" dirty="0" err="1">
                <a:latin typeface="+mn-ea"/>
                <a:cs typeface="+mn-ea"/>
              </a:rPr>
              <a:t>(a) 自回归（AR）统一VLA：文本、图像和动作这三种模态均通过自回归方式生成，导致动作生成的推理速度较慢。</a:t>
            </a:r>
            <a:endParaRPr lang="zh-CN" altLang="en-US" sz="1400" b="0" i="0" dirty="0" err="1">
              <a:latin typeface="+mn-ea"/>
              <a:cs typeface="+mn-ea"/>
            </a:endParaRPr>
          </a:p>
          <a:p>
            <a:pPr marL="0" indent="0" algn="l"/>
            <a:r>
              <a:rPr lang="zh-CN" altLang="en-US" sz="1400" b="0" i="0" dirty="0" err="1">
                <a:latin typeface="+mn-ea"/>
                <a:cs typeface="+mn-ea"/>
              </a:rPr>
              <a:t>(b) 混合式统一VLA：文本采用自回归方式生成，图像和动作则通过重掩码并行解码方式生成，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这要求采用多种注意力机制，大幅增加了架构设计和训练流程的复杂度。</a:t>
            </a:r>
            <a:endParaRPr lang="zh-CN" altLang="en-US" sz="1400" dirty="0" err="1">
              <a:latin typeface="+mn-ea"/>
              <a:cs typeface="+mn-ea"/>
              <a:sym typeface="+mn-ea"/>
            </a:endParaRPr>
          </a:p>
          <a:p>
            <a:pPr marL="0" indent="0" algn="l"/>
            <a:r>
              <a:rPr lang="zh-CN" altLang="en-US" sz="1400" b="0" i="0" dirty="0" err="1">
                <a:latin typeface="+mn-ea"/>
                <a:cs typeface="+mn-ea"/>
              </a:rPr>
              <a:t>(c) 并行解码（PD）统一VLA（本文方法）：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MM-ACT 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借助特定模态的分词器，将文本、图像和动作整合为统一的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token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序列</a:t>
            </a:r>
            <a:r>
              <a:rPr lang="zh-CN" altLang="en-US" sz="1400" b="0" i="0" dirty="0" err="1">
                <a:latin typeface="+mn-ea"/>
                <a:cs typeface="+mn-ea"/>
              </a:rPr>
              <a:t>，文本、图像和动作均通过并行解码生成。</a:t>
            </a:r>
            <a:endParaRPr lang="zh-CN" altLang="en-US" sz="1400" b="0" i="0" dirty="0" err="1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MM-ACT: Learn from Multimodal Parallel Generation to Act</a:t>
            </a:r>
            <a:endParaRPr lang="en-US" altLang="zh-CN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>
          <a:xfrm>
            <a:off x="750888" y="692150"/>
            <a:ext cx="10515600" cy="228600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7289" b="15103"/>
          <a:stretch>
            <a:fillRect/>
          </a:stretch>
        </p:blipFill>
        <p:spPr>
          <a:xfrm>
            <a:off x="2107565" y="806450"/>
            <a:ext cx="7926070" cy="3937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2605" y="5232400"/>
            <a:ext cx="10744200" cy="12090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 hangingPunct="0">
              <a:lnSpc>
                <a:spcPct val="130000"/>
              </a:lnSpc>
            </a:pPr>
            <a:r>
              <a:rPr lang="zh-CN" altLang="en-US" sz="1400" b="1" dirty="0" err="1">
                <a:latin typeface="+mn-ea"/>
                <a:cs typeface="+mn-ea"/>
                <a:sym typeface="+mn-ea"/>
              </a:rPr>
              <a:t>统一离散 Tok</a:t>
            </a:r>
            <a:r>
              <a:rPr lang="en-US" altLang="zh-CN" sz="1400" b="1" dirty="0" err="1">
                <a:latin typeface="+mn-ea"/>
                <a:cs typeface="+mn-ea"/>
                <a:sym typeface="+mn-ea"/>
              </a:rPr>
              <a:t>en </a:t>
            </a:r>
            <a:r>
              <a:rPr lang="zh-CN" altLang="en-US" sz="1400" b="1" dirty="0" err="1">
                <a:latin typeface="+mn-ea"/>
                <a:cs typeface="+mn-ea"/>
                <a:sym typeface="+mn-ea"/>
              </a:rPr>
              <a:t>空间：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任何模态（文本/图像/动作）进入模型之前，都先被转成"离散 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Token"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，模型不区分这是文本还是图像还是动作，对模型来说全部都是 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Token 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序列。</a:t>
            </a:r>
            <a:endParaRPr lang="zh-CN" altLang="en-US" sz="1400" dirty="0" err="1">
              <a:latin typeface="+mn-ea"/>
              <a:cs typeface="+mn-ea"/>
              <a:sym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400" b="1" dirty="0" err="1">
                <a:latin typeface="+mn-ea"/>
                <a:cs typeface="+mn-ea"/>
                <a:sym typeface="+mn-ea"/>
              </a:rPr>
              <a:t>并行解码策略：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一次性预测所有 token，且文本和图像用 Re-mask 策略（多步迭代，每步遮住低置信度的 tok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en，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重新预测），动作用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 One-step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策略（所有位置全 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mask，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一次前向传播全部预测出来），在保持架构统一的前提下对动作模态做了针对性的效率优化。</a:t>
            </a:r>
            <a:endParaRPr lang="zh-CN" altLang="en-US" sz="1400" dirty="0" err="1">
              <a:latin typeface="+mn-ea"/>
              <a:cs typeface="+mn-ea"/>
            </a:endParaRPr>
          </a:p>
          <a:p>
            <a:pPr algn="just" hangingPunct="0">
              <a:lnSpc>
                <a:spcPct val="130000"/>
              </a:lnSpc>
            </a:pPr>
            <a:endParaRPr lang="zh-CN" altLang="en-US" sz="1400" spc="100" dirty="0" err="1">
              <a:solidFill>
                <a:schemeClr val="accent4">
                  <a:lumMod val="20000"/>
                  <a:lumOff val="80000"/>
                </a:schemeClr>
              </a:solidFill>
              <a:latin typeface="+mn-ea"/>
              <a:ea typeface="思源黑体 CN Normal" panose="020B0400000000000000" pitchFamily="34" charset="-122"/>
              <a:cs typeface="+mn-ea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930" y="4719955"/>
            <a:ext cx="7926705" cy="5124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50888" y="5556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MM-ACT: Learn from Multimodal Parallel Generation to Act</a:t>
            </a:r>
            <a:endParaRPr lang="en-US" altLang="zh-CN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5459" r="395" b="17234"/>
          <a:stretch>
            <a:fillRect/>
          </a:stretch>
        </p:blipFill>
        <p:spPr>
          <a:xfrm>
            <a:off x="1122045" y="920750"/>
            <a:ext cx="9773285" cy="34378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89915" y="4767580"/>
            <a:ext cx="10398125" cy="14668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just" hangingPunct="0">
              <a:lnSpc>
                <a:spcPct val="130000"/>
              </a:lnSpc>
            </a:pPr>
            <a:r>
              <a:rPr lang="zh-CN" altLang="en-US" sz="1400" b="1" dirty="0" err="1">
                <a:latin typeface="+mn-ea"/>
                <a:cs typeface="+mn-ea"/>
                <a:sym typeface="+mn-ea"/>
              </a:rPr>
              <a:t>共享上下文多模态学习：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这是论文提升动作效果的核心训练范式，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强制使用完全相同的输入上下文来同时监督三种不同模态的生成，在同一个训练步里，同时计算三个任务的损失，加权得到总损失后一次性更新模型参数，强迫模型学习它们之间的内在关联。</a:t>
            </a:r>
            <a:endParaRPr lang="zh-CN" altLang="en-US" sz="1400" dirty="0" err="1">
              <a:latin typeface="+mn-ea"/>
              <a:cs typeface="+mn-ea"/>
              <a:sym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400" b="1" dirty="0" err="1">
                <a:latin typeface="+mn-ea"/>
                <a:cs typeface="+mn-ea"/>
                <a:sym typeface="+mn-ea"/>
              </a:rPr>
              <a:t>两阶段训练策略：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受益于基础模型 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MMaDA 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在大规模多模态数据上的预训练，文本和图像已经有较强的通用能力，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Stage 1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只训练文本和图像生成（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λ_mm2a = 0），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先把通用图文预训练的能力平稳地迁移到机器人操作领域。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Stage 2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主要训练动作生成，但保留文本和图像的小权重（</a:t>
            </a:r>
            <a:r>
              <a:rPr lang="en-US" altLang="zh-CN" sz="1400" dirty="0" err="1">
                <a:latin typeface="+mn-ea"/>
                <a:cs typeface="+mn-ea"/>
                <a:sym typeface="+mn-ea"/>
              </a:rPr>
              <a:t>λ ≈ 0.05–0.1），</a:t>
            </a:r>
            <a:r>
              <a:rPr lang="zh-CN" altLang="en-US" sz="1400" dirty="0" err="1">
                <a:latin typeface="+mn-ea"/>
                <a:cs typeface="+mn-ea"/>
                <a:sym typeface="+mn-ea"/>
              </a:rPr>
              <a:t>三个模态的损失在同一个梯度累积步中聚合，释放跨模态增益。</a:t>
            </a:r>
            <a:endParaRPr lang="zh-CN" altLang="en-US" sz="1400" dirty="0" err="1">
              <a:latin typeface="+mn-ea"/>
              <a:cs typeface="+mn-ea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80" y="4358640"/>
            <a:ext cx="977265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50888" y="5556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MM-ACT: Learn from Multimodal Parallel Generation to Act</a:t>
            </a:r>
            <a:endParaRPr lang="en-US" altLang="zh-CN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785" y="920750"/>
            <a:ext cx="7235825" cy="5443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750888" y="5556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sym typeface="Arial" panose="020B0604020202020204" pitchFamily="34" charset="0"/>
              </a:rPr>
              <a:t>MM-ACT: Learn from Multimodal Parallel Generation to Act</a:t>
            </a:r>
            <a:endParaRPr lang="en-US" altLang="zh-CN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汇报人：张铭哲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705" y="1235075"/>
            <a:ext cx="11055350" cy="3867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895" y="5102225"/>
            <a:ext cx="6700520" cy="13011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TEMPLATE" val="cd07bc45-8cf5-48a2-8d1d-e901e39ba763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181"/>
      </a:accent1>
      <a:accent2>
        <a:srgbClr val="2D5C92"/>
      </a:accent2>
      <a:accent3>
        <a:srgbClr val="7492B2"/>
      </a:accent3>
      <a:accent4>
        <a:srgbClr val="D1DBE7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sz="1600" spc="100" dirty="0">
            <a:solidFill>
              <a:schemeClr val="accent4">
                <a:lumMod val="20000"/>
                <a:lumOff val="80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2470</Words>
  <Application>WPS 演示</Application>
  <PresentationFormat>宽屏</PresentationFormat>
  <Paragraphs>157</Paragraphs>
  <Slides>12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思源黑体 CN Normal</vt:lpstr>
      <vt:lpstr>黑体</vt:lpstr>
      <vt:lpstr>微软雅黑</vt:lpstr>
      <vt:lpstr>思源黑体 CN Medium</vt:lpstr>
      <vt:lpstr>思源黑体 CN Heavy</vt:lpstr>
      <vt:lpstr>等线</vt:lpstr>
      <vt:lpstr>Times New Roman</vt:lpstr>
      <vt:lpstr>Arial Unicode MS</vt:lpstr>
      <vt:lpstr>KSOFBD28ECAF</vt:lpstr>
      <vt:lpstr>Segoe Print</vt:lpstr>
      <vt:lpstr>KSOFDDF4E7ED</vt:lpstr>
      <vt:lpstr>Office 主题​​</vt:lpstr>
      <vt:lpstr>PowerPoint 演示文稿</vt:lpstr>
      <vt:lpstr>HOG-Layout: Hierarchical 3D Scene Generation, Optimization  and Editing via Vision-Language Models</vt:lpstr>
      <vt:lpstr>HOG-Layout: Hierarchical 3D Scene Generation, Optimization  and Editing via Vision-Language Models</vt:lpstr>
      <vt:lpstr>HOG-Layout: Hierarchical 3D Scene Generation, Optimization  and Editing via Vision-Language Models</vt:lpstr>
      <vt:lpstr>PowerPoint 演示文稿</vt:lpstr>
      <vt:lpstr>HOG-Layout: Hierarchical 3D Scene Generation, Optimization  and Editing via Vision-Language Models</vt:lpstr>
      <vt:lpstr>PowerPoint 演示文稿</vt:lpstr>
      <vt:lpstr>MM-ACT: Learn from Multimodal Parallel Generation to Act</vt:lpstr>
      <vt:lpstr>MM-ACT: Learn from Multimodal Parallel Generation to Act</vt:lpstr>
      <vt:lpstr>MM-ACT: Learn from Multimodal Parallel Generation to Act</vt:lpstr>
      <vt:lpstr>MM-ACT: Learn from Multimodal Parallel Generation to Act</vt:lpstr>
      <vt:lpstr>MM-ACT: Learn from Multimodal Parallel Generation to Act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dy</dc:creator>
  <cp:lastModifiedBy>LEN</cp:lastModifiedBy>
  <cp:revision>207</cp:revision>
  <dcterms:created xsi:type="dcterms:W3CDTF">2020-04-17T07:46:00Z</dcterms:created>
  <dcterms:modified xsi:type="dcterms:W3CDTF">2026-09-10T09:09:29Z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1C05C5AEFF9549F69E1142E63F11BF81_12</vt:lpwstr>
  </property>
</Properties>
</file>